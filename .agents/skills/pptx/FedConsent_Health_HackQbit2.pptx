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1285875"/>
          </a:xfrm>
          <a:prstGeom prst="RECTANGLE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285875"/>
            <a:ext cx="201168" cy="1285875"/>
          </a:xfrm>
          <a:prstGeom prst="RECTANGLE">
            <a:avLst/>
          </a:prstGeom>
          <a:solidFill>
            <a:srgbClr val="3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571750"/>
            <a:ext cx="201168" cy="1285875"/>
          </a:xfrm>
          <a:prstGeom prst="RECTANGLE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857625"/>
            <a:ext cx="201168" cy="1285875"/>
          </a:xfrm>
          <a:prstGeom prst="RECTANGLE">
            <a:avLst/>
          </a:prstGeom>
          <a:solidFill>
            <a:srgbClr val="EA433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HackQbit 2.0  ·  Problem Statement 03  ·  Team 44 — Umbrella Corporation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6217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AI Collaboration Across Hospitals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5486400" cy="27432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494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collaborative healthcare AI without compromising patient privacy.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852928"/>
            <a:ext cx="2834640" cy="310896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871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Artificial Intelligence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10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Arkaprava Bhattacharya · Core Developer   |   Aritra Roy · UI Designer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584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Maji · Business Strategist   |   Vishal Raj · Developer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50892"/>
            <a:ext cx="9144000" cy="292608"/>
          </a:xfrm>
          <a:prstGeom prst="RECTANGLE">
            <a:avLst/>
          </a:pr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691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  ·  HackQbit 2.0  ·  Team 44 — Umbrella Corporation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"/>
            <a:ext cx="320040" cy="36576"/>
          </a:xfrm>
          <a:prstGeom prst="RECTANGLE">
            <a:avLst/>
          </a:prstGeom>
          <a:solidFill>
            <a:srgbClr val="EA43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Isolated. AI Potential Limited.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8229600" cy="13716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17904"/>
            <a:ext cx="4023360" cy="120700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17904"/>
            <a:ext cx="164592" cy="1207008"/>
          </a:xfrm>
          <a:prstGeom prst="RECTANGLE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09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cannot share sensitive patient records freely.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517904"/>
            <a:ext cx="4023360" cy="120700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17904"/>
            <a:ext cx="164592" cy="1207008"/>
          </a:xfrm>
          <a:prstGeom prst="RECTANGLE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5102352" y="1609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Diversity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02352" y="19385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datasets limit model generalizability.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4023360" cy="120700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89504"/>
            <a:ext cx="164592" cy="1207008"/>
          </a:xfrm>
          <a:prstGeom prst="RECTANGLE">
            <a:avLst/>
          </a:prstGeom>
          <a:solidFill>
            <a:srgbClr val="FBBC04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2980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33101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collection raises privacy, security and trust concerns.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889504"/>
            <a:ext cx="4023360" cy="120700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889504"/>
            <a:ext cx="164592" cy="1207008"/>
          </a:xfrm>
          <a:prstGeom prst="RECTANGLE">
            <a:avLst/>
          </a:prstGeom>
          <a:solidFill>
            <a:srgbClr val="EA4335"/>
          </a:solidFill>
          <a:ln/>
        </p:spPr>
      </p:sp>
      <p:sp>
        <p:nvSpPr>
          <p:cNvPr id="21" name="Text 19"/>
          <p:cNvSpPr/>
          <p:nvPr/>
        </p:nvSpPr>
        <p:spPr>
          <a:xfrm>
            <a:off x="5102352" y="2980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Visibility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02352" y="33101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lack insight into how their data trains AI models.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948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needs collaboration without unrestricted patient data sharing.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50892"/>
            <a:ext cx="9144000" cy="292608"/>
          </a:xfrm>
          <a:prstGeom prst="RECTANGLE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691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  ·  HackQbit 2.0  ·  Team 44 — Umbrella Corporation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"/>
            <a:ext cx="320040" cy="36576"/>
          </a:xfrm>
          <a:prstGeom prst="RECTANGLE">
            <a:avLst/>
          </a:prstGeom>
          <a:solidFill>
            <a:srgbClr val="FBBC0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&amp; the Missing Link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13716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FLARE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417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federated learning framework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39496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379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8379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FL orchestration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03704"/>
            <a:ext cx="539496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58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Rhino Health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2585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Privacy-focused healthcare AI collaboration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24328"/>
            <a:ext cx="539496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79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Owkin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6791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AI for biomedical research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44952"/>
            <a:ext cx="539496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998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BeeKeeperAI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30998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healthcare AI workflows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65576"/>
            <a:ext cx="539496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20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Aridhia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520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health data research environments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325880"/>
            <a:ext cx="2468880" cy="340156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408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Differentiation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64224" y="1783080"/>
            <a:ext cx="182880" cy="1828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7" name="Text 25"/>
          <p:cNvSpPr/>
          <p:nvPr/>
        </p:nvSpPr>
        <p:spPr>
          <a:xfrm>
            <a:off x="6601968" y="17556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consent linked to training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64224" y="2240280"/>
            <a:ext cx="182880" cy="1828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6601968" y="22128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Patient-facing privacy receipts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64224" y="2697480"/>
            <a:ext cx="182880" cy="1828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1" name="Text 29"/>
          <p:cNvSpPr/>
          <p:nvPr/>
        </p:nvSpPr>
        <p:spPr>
          <a:xfrm>
            <a:off x="6601968" y="26700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accounting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64224" y="3154680"/>
            <a:ext cx="182880" cy="1828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3" name="Text 31"/>
          <p:cNvSpPr/>
          <p:nvPr/>
        </p:nvSpPr>
        <p:spPr>
          <a:xfrm>
            <a:off x="6601968" y="31272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inference evaluation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64224" y="3611880"/>
            <a:ext cx="182880" cy="1828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5" name="Text 33"/>
          <p:cNvSpPr/>
          <p:nvPr/>
        </p:nvSpPr>
        <p:spPr>
          <a:xfrm>
            <a:off x="6601968" y="358444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dashboard: metrics + audit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50892"/>
            <a:ext cx="9144000" cy="292608"/>
          </a:xfrm>
          <a:prstGeom prst="RECTANGLE">
            <a:avLst/>
          </a:prstGeom>
          <a:solidFill>
            <a:srgbClr val="F8F9F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8691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  ·  HackQbit 2.0  ·  Team 44 — Umbrella Corporation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"/>
            <a:ext cx="320040" cy="36576"/>
          </a:xfrm>
          <a:prstGeom prst="RECTANGLE">
            <a:avLst/>
          </a:prstGeom>
          <a:solidFill>
            <a:srgbClr val="3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FedConsent Health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13716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81328"/>
            <a:ext cx="1901952" cy="2560320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81328"/>
            <a:ext cx="1901952" cy="201168"/>
          </a:xfrm>
          <a:prstGeom prst="RECTANGLE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231136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hospitals train together via Flower; raw images stay local.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42032" y="1481328"/>
            <a:ext cx="1901952" cy="2560320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481328"/>
            <a:ext cx="1901952" cy="201168"/>
          </a:xfrm>
          <a:prstGeom prst="RECTANGLE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2633472" y="17373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Consent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33472" y="2231136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opt in or out; eligibility computed before each round.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1481328"/>
            <a:ext cx="1901952" cy="2560320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481328"/>
            <a:ext cx="1901952" cy="201168"/>
          </a:xfrm>
          <a:prstGeom prst="RECTANGLE">
            <a:avLst/>
          </a:prstGeom>
          <a:solidFill>
            <a:srgbClr val="FBBC04"/>
          </a:solidFill>
          <a:ln/>
        </p:spPr>
      </p:sp>
      <p:sp>
        <p:nvSpPr>
          <p:cNvPr id="17" name="Text 15"/>
          <p:cNvSpPr/>
          <p:nvPr/>
        </p:nvSpPr>
        <p:spPr>
          <a:xfrm>
            <a:off x="4718304" y="17373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18304" y="2231136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Opacus DP-SGD clips gradients and adds calibrated noise.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11696" y="1481328"/>
            <a:ext cx="1901952" cy="2560320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11696" y="1481328"/>
            <a:ext cx="1901952" cy="201168"/>
          </a:xfrm>
          <a:prstGeom prst="RECTANGLE">
            <a:avLst/>
          </a:prstGeom>
          <a:solidFill>
            <a:srgbClr val="EA4335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173736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Dashboard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03136" y="2231136"/>
            <a:ext cx="17190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Diagnostics, privacy parameters, and audit events in one view.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948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Hospitals  ·  Medical researchers  ·  AI developers  ·  Patients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50892"/>
            <a:ext cx="9144000" cy="292608"/>
          </a:xfrm>
          <a:prstGeom prst="RECTANGLE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691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  ·  HackQbit 2.0  ·  Team 44 — Umbrella Corporation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"/>
            <a:ext cx="320040" cy="36576"/>
          </a:xfrm>
          <a:prstGeom prst="RECTANGLE">
            <a:avLst/>
          </a:prstGeom>
          <a:solidFill>
            <a:srgbClr val="4285F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Patient Consent to Collaborative Intelligence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13716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44752"/>
            <a:ext cx="2651760" cy="1353312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54480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636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536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Onboarding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011680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hospitals initialise local datasets and Flower clients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0128" y="1444752"/>
            <a:ext cx="2651760" cy="1353312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9856" y="1554480"/>
            <a:ext cx="384048" cy="38404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3419856" y="15636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77056" y="1536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Consent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9856" y="2011680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opt in or out via the consent portal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1444752"/>
            <a:ext cx="2651760" cy="1353312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1554480"/>
            <a:ext cx="384048" cy="38404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15636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9984" y="1536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Filtering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2011680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eligible records enter each new training round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2651760" cy="1353312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035808"/>
            <a:ext cx="384048" cy="38404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044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" y="3017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3493008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Opacus DP-SGD trains each local model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0128" y="2926080"/>
            <a:ext cx="2651760" cy="1353312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9856" y="3035808"/>
            <a:ext cx="384048" cy="38404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9" name="Text 27"/>
          <p:cNvSpPr/>
          <p:nvPr/>
        </p:nvSpPr>
        <p:spPr>
          <a:xfrm>
            <a:off x="3419856" y="3044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77056" y="3017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Aggregation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19856" y="3493008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combines updates into a shared global model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63056" y="2926080"/>
            <a:ext cx="2651760" cy="1353312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72784" y="3035808"/>
            <a:ext cx="384048" cy="38404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4" name="Text 32"/>
          <p:cNvSpPr/>
          <p:nvPr/>
        </p:nvSpPr>
        <p:spPr>
          <a:xfrm>
            <a:off x="6272784" y="30449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29984" y="3017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72784" y="3493008"/>
            <a:ext cx="2432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privacy metrics rendered on dashboard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5948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local  ·  Consent controls participation  ·  Federation improves the shared model where evidence supports it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50892"/>
            <a:ext cx="9144000" cy="292608"/>
          </a:xfrm>
          <a:prstGeom prst="RECTANGLE">
            <a:avLst/>
          </a:prstGeom>
          <a:solidFill>
            <a:srgbClr val="F8F9F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8691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  ·  HackQbit 2.0  ·  Team 44 — Umbrella Corporation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"/>
            <a:ext cx="320040" cy="36576"/>
          </a:xfrm>
          <a:prstGeom prst="RECTANGLE">
            <a:avLst/>
          </a:prstGeom>
          <a:solidFill>
            <a:srgbClr val="3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Privacy-Aware Federated Learning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13716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1920240" cy="658368"/>
          </a:xfrm>
          <a:prstGeom prst="RECTANGLE">
            <a:avLst/>
          </a:prstGeom>
          <a:solidFill>
            <a:srgbClr val="EAF3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API &amp; Audit DB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89888" y="2048256"/>
            <a:ext cx="54864" cy="256032"/>
          </a:xfrm>
          <a:prstGeom prst="RECTANGLE">
            <a:avLst/>
          </a:prstGeom>
          <a:solidFill>
            <a:srgbClr val="5F636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340864"/>
            <a:ext cx="1828800" cy="1316736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140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" y="2779776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743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" y="3090672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0540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Filter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" y="3401568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3649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Opacus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44168" y="3675888"/>
            <a:ext cx="54864" cy="219456"/>
          </a:xfrm>
          <a:prstGeom prst="RECTANGLE">
            <a:avLst/>
          </a:prstGeom>
          <a:solidFill>
            <a:srgbClr val="5F6368"/>
          </a:solidFill>
          <a:ln/>
        </p:spPr>
      </p:sp>
      <p:sp>
        <p:nvSpPr>
          <p:cNvPr id="20" name="Shape 18"/>
          <p:cNvSpPr/>
          <p:nvPr/>
        </p:nvSpPr>
        <p:spPr>
          <a:xfrm>
            <a:off x="2487168" y="2340864"/>
            <a:ext cx="1828800" cy="1316736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8608" y="24140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15184" y="2779776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2816352" y="2743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15184" y="3090672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5" name="Text 23"/>
          <p:cNvSpPr/>
          <p:nvPr/>
        </p:nvSpPr>
        <p:spPr>
          <a:xfrm>
            <a:off x="2816352" y="30540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Filter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15184" y="3401568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7" name="Text 25"/>
          <p:cNvSpPr/>
          <p:nvPr/>
        </p:nvSpPr>
        <p:spPr>
          <a:xfrm>
            <a:off x="2816352" y="33649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Opacus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74136" y="3675888"/>
            <a:ext cx="54864" cy="219456"/>
          </a:xfrm>
          <a:prstGeom prst="RECTANGLE">
            <a:avLst/>
          </a:prstGeom>
          <a:solidFill>
            <a:srgbClr val="5F6368"/>
          </a:solidFill>
          <a:ln/>
        </p:spPr>
      </p:sp>
      <p:sp>
        <p:nvSpPr>
          <p:cNvPr id="29" name="Shape 27"/>
          <p:cNvSpPr/>
          <p:nvPr/>
        </p:nvSpPr>
        <p:spPr>
          <a:xfrm>
            <a:off x="4517136" y="2340864"/>
            <a:ext cx="1828800" cy="1316736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08576" y="24140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45152" y="2779776"/>
            <a:ext cx="146304" cy="14630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74320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45152" y="3090672"/>
            <a:ext cx="146304" cy="14630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0540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Filter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45152" y="3401568"/>
            <a:ext cx="146304" cy="14630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3649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Opacus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04104" y="3675888"/>
            <a:ext cx="54864" cy="219456"/>
          </a:xfrm>
          <a:prstGeom prst="RECTANGLE">
            <a:avLst/>
          </a:prstGeom>
          <a:solidFill>
            <a:srgbClr val="5F6368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3895344"/>
            <a:ext cx="5870448" cy="512064"/>
          </a:xfrm>
          <a:prstGeom prst="RECTANGLE">
            <a:avLst/>
          </a:prstGeom>
          <a:solidFill>
            <a:srgbClr val="E6F4E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93192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Federation Server — model aggregation and redistribution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92240" y="1371600"/>
            <a:ext cx="2194560" cy="3035808"/>
          </a:xfrm>
          <a:prstGeom prst="RECTANGLE">
            <a:avLst/>
          </a:prstGeom>
          <a:solidFill>
            <a:srgbClr val="FFF8E1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Dashboard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556248" y="1801368"/>
            <a:ext cx="164592" cy="16459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1773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AUROC · F1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56248" y="2258568"/>
            <a:ext cx="164592" cy="16459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22311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(ε) tracking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56248" y="2715768"/>
            <a:ext cx="164592" cy="16459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47" name="Text 45"/>
          <p:cNvSpPr/>
          <p:nvPr/>
        </p:nvSpPr>
        <p:spPr>
          <a:xfrm>
            <a:off x="6766560" y="2688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AUC test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56248" y="3172968"/>
            <a:ext cx="164592" cy="16459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0" y="31455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4850892"/>
            <a:ext cx="9144000" cy="292608"/>
          </a:xfrm>
          <a:prstGeom prst="RECTANGLE">
            <a:avLst/>
          </a:prstGeom>
          <a:solidFill>
            <a:srgbClr val="F8F9FA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8691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  ·  HackQbit 2.0  ·  Team 44 — Umbrella Corporation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"/>
            <a:ext cx="320040" cy="36576"/>
          </a:xfrm>
          <a:prstGeom prst="RECTANGLE">
            <a:avLst/>
          </a:prstGeom>
          <a:solidFill>
            <a:srgbClr val="4285F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Behind FedConsent Health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13716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4114800" cy="65836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146304" cy="658368"/>
          </a:xfrm>
          <a:prstGeom prst="RECTANGLE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472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" y="1764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Vite · Tailwind CSS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4114800" cy="65836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417320"/>
            <a:ext cx="146304" cy="658368"/>
          </a:xfrm>
          <a:prstGeom prst="RECTANGLE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5084064" y="1472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84064" y="1764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Pydantic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85416"/>
            <a:ext cx="4114800" cy="65836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85416"/>
            <a:ext cx="146304" cy="658368"/>
          </a:xfrm>
          <a:prstGeom prst="RECTANGLE">
            <a:avLst/>
          </a:prstGeom>
          <a:solidFill>
            <a:srgbClr val="FBBC04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" y="2532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SQLAlchemy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185416"/>
            <a:ext cx="4114800" cy="65836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185416"/>
            <a:ext cx="146304" cy="658368"/>
          </a:xfrm>
          <a:prstGeom prst="RECTANGLE">
            <a:avLst/>
          </a:prstGeom>
          <a:solidFill>
            <a:srgbClr val="EA4335"/>
          </a:solidFill>
          <a:ln/>
        </p:spPr>
      </p:sp>
      <p:sp>
        <p:nvSpPr>
          <p:cNvPr id="21" name="Text 19"/>
          <p:cNvSpPr/>
          <p:nvPr/>
        </p:nvSpPr>
        <p:spPr>
          <a:xfrm>
            <a:off x="5084064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84064" y="2532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scikit-learn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53512"/>
            <a:ext cx="4114800" cy="65836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53512"/>
            <a:ext cx="146304" cy="658368"/>
          </a:xfrm>
          <a:prstGeom prst="RECTANGLE">
            <a:avLst/>
          </a:prstGeom>
          <a:solidFill>
            <a:srgbClr val="4285F4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" y="33009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(FedAvg)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953512"/>
            <a:ext cx="4114800" cy="65836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953512"/>
            <a:ext cx="146304" cy="658368"/>
          </a:xfrm>
          <a:prstGeom prst="RECTANGLE">
            <a:avLst/>
          </a:prstGeom>
          <a:solidFill>
            <a:srgbClr val="3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5084064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84064" y="33009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Opacus (DP-SGD)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721608"/>
            <a:ext cx="4114800" cy="65836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721608"/>
            <a:ext cx="146304" cy="658368"/>
          </a:xfrm>
          <a:prstGeom prst="RECTANGLE">
            <a:avLst/>
          </a:prstGeom>
          <a:solidFill>
            <a:srgbClr val="FBBC04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" y="4069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MedMNIST / PneumoniaMNIST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721608"/>
            <a:ext cx="4114800" cy="65836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721608"/>
            <a:ext cx="146304" cy="658368"/>
          </a:xfrm>
          <a:prstGeom prst="RECTANGLE">
            <a:avLst/>
          </a:prstGeom>
          <a:solidFill>
            <a:srgbClr val="EA4335"/>
          </a:solidFill>
          <a:ln/>
        </p:spPr>
      </p:sp>
      <p:sp>
        <p:nvSpPr>
          <p:cNvPr id="37" name="Text 35"/>
          <p:cNvSpPr/>
          <p:nvPr/>
        </p:nvSpPr>
        <p:spPr>
          <a:xfrm>
            <a:off x="5084064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Testing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84064" y="4069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 Toolbox (ART)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5948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 designed for a reproducible hackathon prototype.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50892"/>
            <a:ext cx="9144000" cy="292608"/>
          </a:xfrm>
          <a:prstGeom prst="RECTANGLE">
            <a:avLst/>
          </a:prstGeom>
          <a:solidFill>
            <a:srgbClr val="F8F9FA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8691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  ·  HackQbit 2.0  ·  Team 44 — Umbrella Corporation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"/>
            <a:ext cx="320040" cy="36576"/>
          </a:xfrm>
          <a:prstGeom prst="RECTANGLE">
            <a:avLst/>
          </a:prstGeom>
          <a:solidFill>
            <a:srgbClr val="EA43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Design. Consent by Default.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13716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17904"/>
            <a:ext cx="274320" cy="27432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77393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medical images never leave the hospital environment.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74320" cy="27432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066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35915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DP-SGD clips gradients and adds calibrated noise. Epsilon and delta are tracked per round.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274320" cy="274320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Lifecycle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29443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grant or withdraw consent. Eligibility is recomputed before each training round.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274320" cy="27432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2369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352958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roles for patients, hospital staff, and researchers.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274320" cy="27432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41148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changes and training events recorded and reviewable.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38828"/>
            <a:ext cx="8229600" cy="310896"/>
          </a:xfrm>
          <a:prstGeom prst="RECTANGLE">
            <a:avLst/>
          </a:prstGeom>
          <a:solidFill>
            <a:srgbClr val="FFF8E1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3479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Consent withdrawal removes future eligibility but does not erase influence from already-trained model weights.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50892"/>
            <a:ext cx="9144000" cy="292608"/>
          </a:xfrm>
          <a:prstGeom prst="RECTANGLE">
            <a:avLst/>
          </a:prstGeom>
          <a:solidFill>
            <a:srgbClr val="F8F9F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691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  ·  HackQbit 2.0  ·  Team 44 — Umbrella Corporation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"/>
            <a:ext cx="320040" cy="36576"/>
          </a:xfrm>
          <a:prstGeom prst="RECTANGLE">
            <a:avLst/>
          </a:prstGeom>
          <a:solidFill>
            <a:srgbClr val="3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Architecture to Working Prototype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13716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99616"/>
            <a:ext cx="329184" cy="3291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7922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simulated hospitals participate in the federation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548640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12264"/>
            <a:ext cx="329184" cy="329184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214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1122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4048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status · opt-in and opt-out 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42616"/>
            <a:ext cx="548640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724912"/>
            <a:ext cx="329184" cy="329184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3405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724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Withdrawal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0175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Withdrawn consent changes future training eligibility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55264"/>
            <a:ext cx="548640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337560"/>
            <a:ext cx="329184" cy="329184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4670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Training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6301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rounds · global model update displayed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867912"/>
            <a:ext cx="548640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950208"/>
            <a:ext cx="329184" cy="329184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9593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3950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Dashboard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4242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comparisons · privacy params · audit logs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0" y="1417320"/>
            <a:ext cx="3017520" cy="321868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21945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overview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portal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dashboard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50892"/>
            <a:ext cx="9144000" cy="292608"/>
          </a:xfrm>
          <a:prstGeom prst="RECTANGLE">
            <a:avLst/>
          </a:prstGeom>
          <a:solidFill>
            <a:srgbClr val="F8F9F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691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  ·  HackQbit 2.0  ·  Team 44 — Umbrella Corporation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"/>
            <a:ext cx="320040" cy="36576"/>
          </a:xfrm>
          <a:prstGeom prst="RECTANGLE">
            <a:avLst/>
          </a:prstGeom>
          <a:solidFill>
            <a:srgbClr val="4285F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Accuracy, Collaboration &amp; Privacy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13716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1444752"/>
            <a:ext cx="182880" cy="1828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426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 overall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530352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" y="1883664"/>
            <a:ext cx="182880" cy="1828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1865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18653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across thresholds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249424"/>
            <a:ext cx="530352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" y="2322576"/>
            <a:ext cx="182880" cy="182880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304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balance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88336"/>
            <a:ext cx="530352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512064" y="2761488"/>
            <a:ext cx="182880" cy="18288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Pneumonia-positive recall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27248"/>
            <a:ext cx="530352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512064" y="3200400"/>
            <a:ext cx="182880" cy="1828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3182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31821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Pneumonia-negative specificity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530352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512064" y="3639312"/>
            <a:ext cx="182880" cy="18288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" y="3621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(e)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3621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privacy loss parameter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005072"/>
            <a:ext cx="5303520" cy="9144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512064" y="4078224"/>
            <a:ext cx="182880" cy="182880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" y="40599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AUC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68880" y="40599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inference strength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1325880"/>
            <a:ext cx="2651760" cy="3200400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44768" y="1828800"/>
            <a:ext cx="2432304" cy="384048"/>
          </a:xfrm>
          <a:prstGeom prst="RECTANGLE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188366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 Local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44768" y="2340864"/>
            <a:ext cx="2432304" cy="384048"/>
          </a:xfrm>
          <a:prstGeom prst="RECTANGLE">
            <a:avLst/>
          </a:prstGeom>
          <a:solidFill>
            <a:srgbClr val="FFFFFF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239572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 Local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44768" y="2852928"/>
            <a:ext cx="2432304" cy="384048"/>
          </a:xfrm>
          <a:prstGeom prst="RECTANGLE">
            <a:avLst/>
          </a:prstGeom>
          <a:solidFill>
            <a:srgbClr val="FFFFFF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29077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 Local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44768" y="3364992"/>
            <a:ext cx="2432304" cy="384048"/>
          </a:xfrm>
          <a:prstGeom prst="RECTANGLE">
            <a:avLst/>
          </a:prstGeom>
          <a:solidFill>
            <a:srgbClr val="FFFFFF"/>
          </a:solidFill>
          <a:ln w="12700">
            <a:solidFill>
              <a:srgbClr val="2021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341985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(no DP)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44768" y="3877056"/>
            <a:ext cx="2432304" cy="384048"/>
          </a:xfrm>
          <a:prstGeom prst="RECTANGLE">
            <a:avLst/>
          </a:prstGeom>
          <a:solidFill>
            <a:srgbClr val="FFFFFF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39319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+ DP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45948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measured values only. Do not claim federation improved accuracy until experiments confirm it.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850892"/>
            <a:ext cx="9144000" cy="292608"/>
          </a:xfrm>
          <a:prstGeom prst="RECTANGLE">
            <a:avLst/>
          </a:prstGeom>
          <a:solidFill>
            <a:srgbClr val="F8F9FA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691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  ·  HackQbit 2.0  ·  Team 44 — Umbrella Corporation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75488"/>
            <a:ext cx="320040" cy="36576"/>
          </a:xfrm>
          <a:prstGeom prst="RECTANGLE">
            <a:avLst/>
          </a:prstGeom>
          <a:solidFill>
            <a:srgbClr val="FBBC0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FUTURE SCOPE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Hackathon Prototype to Healthcare Infrastructure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13716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" y="1746504"/>
            <a:ext cx="164592" cy="16459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networks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" y="2075688"/>
            <a:ext cx="164592" cy="16459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66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research institutions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2404872"/>
            <a:ext cx="164592" cy="16459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companies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" y="2734056"/>
            <a:ext cx="164592" cy="16459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24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AI developers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45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Enterprise licensing  ·  managed deployments  ·  technical support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444752"/>
            <a:ext cx="1261872" cy="2560320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444752"/>
            <a:ext cx="1261872" cy="182880"/>
          </a:xfrm>
          <a:prstGeom prst="RECTANGLE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4901184" y="166420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01184" y="2231136"/>
            <a:ext cx="115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3-hospital simulation and dashboard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91072" y="1444752"/>
            <a:ext cx="1261872" cy="2560320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1072" y="1444752"/>
            <a:ext cx="1261872" cy="182880"/>
          </a:xfrm>
          <a:prstGeom prst="RECTANGLE">
            <a:avLst/>
          </a:prstGeom>
          <a:solidFill>
            <a:srgbClr val="3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6345936" y="166420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45936" y="2231136"/>
            <a:ext cx="115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interoperability and validation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35824" y="1444752"/>
            <a:ext cx="1261872" cy="2560320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35824" y="1444752"/>
            <a:ext cx="1261872" cy="182880"/>
          </a:xfrm>
          <a:prstGeom prst="RECTANGLE">
            <a:avLst/>
          </a:prstGeom>
          <a:solidFill>
            <a:srgbClr val="FBBC04"/>
          </a:solidFill>
          <a:ln/>
        </p:spPr>
      </p:sp>
      <p:sp>
        <p:nvSpPr>
          <p:cNvPr id="27" name="Text 25"/>
          <p:cNvSpPr/>
          <p:nvPr/>
        </p:nvSpPr>
        <p:spPr>
          <a:xfrm>
            <a:off x="7790688" y="166420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90688" y="2231136"/>
            <a:ext cx="115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Multi-hospital deployment and governance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50892"/>
            <a:ext cx="9144000" cy="292608"/>
          </a:xfrm>
          <a:prstGeom prst="RECTANGLE">
            <a:avLst/>
          </a:pr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691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  ·  HackQbit 2.0  ·  Team 44 — Umbrella Corporation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ANGL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164592"/>
          </a:xfrm>
          <a:prstGeom prst="RECTANGLE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0"/>
            <a:ext cx="2286000" cy="164592"/>
          </a:xfrm>
          <a:prstGeom prst="RECTANGLE">
            <a:avLst/>
          </a:prstGeom>
          <a:solidFill>
            <a:srgbClr val="3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2286000" cy="164592"/>
          </a:xfrm>
          <a:prstGeom prst="RECTANGLE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164592"/>
          </a:xfrm>
          <a:prstGeom prst="RECTANGLE">
            <a:avLst/>
          </a:prstGeom>
          <a:solidFill>
            <a:srgbClr val="EA43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CLOSING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Healthcare AI Without Compromising Patient Control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8229600" cy="13716"/>
          </a:xfrm>
          <a:prstGeom prst="RECTANGLE">
            <a:avLst/>
          </a:prstGeom>
          <a:solidFill>
            <a:srgbClr val="E8EAED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89888"/>
            <a:ext cx="1975104" cy="120700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89888"/>
            <a:ext cx="1975104" cy="182880"/>
          </a:xfrm>
          <a:prstGeom prst="RECTANGLE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09344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95681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Multi-hospital training without transferring raw records.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33472" y="1389888"/>
            <a:ext cx="1975104" cy="120700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3472" y="1389888"/>
            <a:ext cx="1975104" cy="182880"/>
          </a:xfrm>
          <a:prstGeom prst="RECTANGLE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2724912" y="1609344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Empowerment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24912" y="195681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decisions linked to future training eligibility.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9744" y="1389888"/>
            <a:ext cx="1975104" cy="120700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9744" y="1389888"/>
            <a:ext cx="1975104" cy="182880"/>
          </a:xfrm>
          <a:prstGeom prst="RECTANGLE">
            <a:avLst/>
          </a:prstGeom>
          <a:solidFill>
            <a:srgbClr val="FBBC04"/>
          </a:solidFill>
          <a:ln/>
        </p:spPr>
      </p:sp>
      <p:sp>
        <p:nvSpPr>
          <p:cNvPr id="20" name="Text 18"/>
          <p:cNvSpPr/>
          <p:nvPr/>
        </p:nvSpPr>
        <p:spPr>
          <a:xfrm>
            <a:off x="4901184" y="1609344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Transparency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01184" y="195681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parameters and attack evaluation reported openly.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86016" y="1389888"/>
            <a:ext cx="1975104" cy="1207008"/>
          </a:xfrm>
          <a:prstGeom prst="RECTANGLE">
            <a:avLst/>
          </a:prstGeom>
          <a:solidFill>
            <a:srgbClr val="F8F9FA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86016" y="1389888"/>
            <a:ext cx="1975104" cy="182880"/>
          </a:xfrm>
          <a:prstGeom prst="RECTANGLE">
            <a:avLst/>
          </a:prstGeom>
          <a:solidFill>
            <a:srgbClr val="EA4335"/>
          </a:solidFill>
          <a:ln/>
        </p:spPr>
      </p:sp>
      <p:sp>
        <p:nvSpPr>
          <p:cNvPr id="24" name="Text 22"/>
          <p:cNvSpPr/>
          <p:nvPr/>
        </p:nvSpPr>
        <p:spPr>
          <a:xfrm>
            <a:off x="7077456" y="1609344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77456" y="195681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consent activity fully auditable.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779776"/>
            <a:ext cx="8229600" cy="987552"/>
          </a:xfrm>
          <a:prstGeom prst="RECTANGLE">
            <a:avLst/>
          </a:prstGeom>
          <a:solidFill>
            <a:srgbClr val="EAF3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816352"/>
            <a:ext cx="7955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285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do not just keep hospital data local. We make AI collaboration consent-aware, privacy-measurable, and auditable."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485132"/>
            <a:ext cx="9144000" cy="658368"/>
          </a:xfrm>
          <a:prstGeom prst="RECTANGLE">
            <a:avLst/>
          </a:pr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539996"/>
            <a:ext cx="512064" cy="512064"/>
          </a:xfrm>
          <a:prstGeom prst="RECTANGLE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399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" y="46680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FedConsent Health  ·  Team 44  ·  Umbrella Corporation  ·  HackQbit 2.0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2026-10-08T01:13:39Z</dcterms:created>
  <dcterms:modified xsi:type="dcterms:W3CDTF">2026-10-08T01:13:39Z</dcterms:modified>
</cp:coreProperties>
</file>